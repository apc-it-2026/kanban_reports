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1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85B-349B-4414-A562-2A37D79F5728}" type="datetimeFigureOut">
              <a:rPr lang="en-IN" smtClean="0"/>
              <a:t>2026/01/08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C35A-9A4C-4D71-AA28-CDB39E20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640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85B-349B-4414-A562-2A37D79F5728}" type="datetimeFigureOut">
              <a:rPr lang="en-IN" smtClean="0"/>
              <a:t>2026/01/08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C35A-9A4C-4D71-AA28-CDB39E20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3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85B-349B-4414-A562-2A37D79F5728}" type="datetimeFigureOut">
              <a:rPr lang="en-IN" smtClean="0"/>
              <a:t>2026/01/08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C35A-9A4C-4D71-AA28-CDB39E20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407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85B-349B-4414-A562-2A37D79F5728}" type="datetimeFigureOut">
              <a:rPr lang="en-IN" smtClean="0"/>
              <a:t>2026/01/08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C35A-9A4C-4D71-AA28-CDB39E20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299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85B-349B-4414-A562-2A37D79F5728}" type="datetimeFigureOut">
              <a:rPr lang="en-IN" smtClean="0"/>
              <a:t>2026/01/08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C35A-9A4C-4D71-AA28-CDB39E20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510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85B-349B-4414-A562-2A37D79F5728}" type="datetimeFigureOut">
              <a:rPr lang="en-IN" smtClean="0"/>
              <a:t>2026/01/08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C35A-9A4C-4D71-AA28-CDB39E20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596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85B-349B-4414-A562-2A37D79F5728}" type="datetimeFigureOut">
              <a:rPr lang="en-IN" smtClean="0"/>
              <a:t>2026/01/08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C35A-9A4C-4D71-AA28-CDB39E20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27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85B-349B-4414-A562-2A37D79F5728}" type="datetimeFigureOut">
              <a:rPr lang="en-IN" smtClean="0"/>
              <a:t>2026/01/08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C35A-9A4C-4D71-AA28-CDB39E20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372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85B-349B-4414-A562-2A37D79F5728}" type="datetimeFigureOut">
              <a:rPr lang="en-IN" smtClean="0"/>
              <a:t>2026/01/08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C35A-9A4C-4D71-AA28-CDB39E20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351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85B-349B-4414-A562-2A37D79F5728}" type="datetimeFigureOut">
              <a:rPr lang="en-IN" smtClean="0"/>
              <a:t>2026/01/08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C35A-9A4C-4D71-AA28-CDB39E20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113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85B-349B-4414-A562-2A37D79F5728}" type="datetimeFigureOut">
              <a:rPr lang="en-IN" smtClean="0"/>
              <a:t>2026/01/08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C35A-9A4C-4D71-AA28-CDB39E20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360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4785B-349B-4414-A562-2A37D79F5728}" type="datetimeFigureOut">
              <a:rPr lang="en-IN" smtClean="0"/>
              <a:t>2026/01/08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1C35A-9A4C-4D71-AA28-CDB39E20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182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4524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smtClean="0"/>
              <a:t>Material Status By Quantity : </a:t>
            </a:r>
            <a:endParaRPr lang="en-IN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289287"/>
              </p:ext>
            </p:extLst>
          </p:nvPr>
        </p:nvGraphicFramePr>
        <p:xfrm>
          <a:off x="621382" y="726064"/>
          <a:ext cx="11246963" cy="3461125"/>
        </p:xfrm>
        <a:graphic>
          <a:graphicData uri="http://schemas.openxmlformats.org/drawingml/2006/table">
            <a:tbl>
              <a:tblPr/>
              <a:tblGrid>
                <a:gridCol w="1641966"/>
                <a:gridCol w="9604997"/>
              </a:tblGrid>
              <a:tr h="243141">
                <a:tc>
                  <a:txBody>
                    <a:bodyPr/>
                    <a:lstStyle/>
                    <a:p>
                      <a:r>
                        <a:rPr lang="en-IN" dirty="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43141">
                <a:tc>
                  <a:txBody>
                    <a:bodyPr/>
                    <a:lstStyle/>
                    <a:p>
                      <a:r>
                        <a:rPr lang="en-IN" b="1"/>
                        <a:t>DQ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Demand 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0876">
                <a:tc>
                  <a:txBody>
                    <a:bodyPr/>
                    <a:lstStyle/>
                    <a:p>
                      <a:r>
                        <a:rPr lang="en-IN" b="1"/>
                        <a:t>PQ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Purchase 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5309">
                <a:tc>
                  <a:txBody>
                    <a:bodyPr/>
                    <a:lstStyle/>
                    <a:p>
                      <a:r>
                        <a:rPr lang="en-IN" b="1"/>
                        <a:t>RQ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Quantity of Material Returning (received to warehouse)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141">
                <a:tc>
                  <a:txBody>
                    <a:bodyPr/>
                    <a:lstStyle/>
                    <a:p>
                      <a:r>
                        <a:rPr lang="en-IN" b="1"/>
                        <a:t>SQ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Quantity of Material Shortage (shortfall in warehouse)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141">
                <a:tc>
                  <a:txBody>
                    <a:bodyPr/>
                    <a:lstStyle/>
                    <a:p>
                      <a:r>
                        <a:rPr lang="en-IN" b="1"/>
                        <a:t>IQ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Quantity of Issue Material (issued to production)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5496">
                <a:tc>
                  <a:txBody>
                    <a:bodyPr/>
                    <a:lstStyle/>
                    <a:p>
                      <a:r>
                        <a:rPr lang="en-IN" b="1"/>
                        <a:t>UQ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Quantity of Unissued Material (not yet issued to production)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141">
                <a:tc>
                  <a:txBody>
                    <a:bodyPr/>
                    <a:lstStyle/>
                    <a:p>
                      <a:r>
                        <a:rPr lang="en-IN" b="1"/>
                        <a:t>DAI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Deduct Available Inventory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141">
                <a:tc>
                  <a:txBody>
                    <a:bodyPr/>
                    <a:lstStyle/>
                    <a:p>
                      <a:r>
                        <a:rPr lang="en-IN" b="1"/>
                        <a:t>DPI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Deduct Pre-order Inventory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7178" y="5198155"/>
            <a:ext cx="1506720" cy="55618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smtClean="0"/>
              <a:t>Demand (DQ)</a:t>
            </a:r>
            <a:endParaRPr lang="en-IN" sz="1600" dirty="0" smtClean="0"/>
          </a:p>
        </p:txBody>
      </p:sp>
      <p:sp>
        <p:nvSpPr>
          <p:cNvPr id="10" name="Rounded Rectangle 9"/>
          <p:cNvSpPr/>
          <p:nvPr/>
        </p:nvSpPr>
        <p:spPr>
          <a:xfrm>
            <a:off x="2378212" y="5198155"/>
            <a:ext cx="1458497" cy="5561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smtClean="0"/>
              <a:t>Purchase (PQ)</a:t>
            </a:r>
            <a:endParaRPr lang="en-IN" sz="1600" dirty="0" smtClean="0"/>
          </a:p>
        </p:txBody>
      </p:sp>
      <p:sp>
        <p:nvSpPr>
          <p:cNvPr id="11" name="Rounded Rectangle 10"/>
          <p:cNvSpPr/>
          <p:nvPr/>
        </p:nvSpPr>
        <p:spPr>
          <a:xfrm>
            <a:off x="4141023" y="5198154"/>
            <a:ext cx="1511130" cy="55618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smtClean="0"/>
              <a:t>Receiving (RQ)</a:t>
            </a:r>
            <a:endParaRPr lang="en-IN" sz="1600" dirty="0" smtClean="0"/>
          </a:p>
        </p:txBody>
      </p:sp>
      <p:sp>
        <p:nvSpPr>
          <p:cNvPr id="12" name="Rounded Rectangle 11"/>
          <p:cNvSpPr/>
          <p:nvPr/>
        </p:nvSpPr>
        <p:spPr>
          <a:xfrm>
            <a:off x="5956467" y="5198154"/>
            <a:ext cx="3326093" cy="55618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smtClean="0"/>
              <a:t>Stock in Warehouse (RQ + DAI + DPI)</a:t>
            </a:r>
            <a:endParaRPr lang="en-IN" sz="1600" dirty="0" smtClean="0"/>
          </a:p>
        </p:txBody>
      </p:sp>
      <p:sp>
        <p:nvSpPr>
          <p:cNvPr id="13" name="Rounded Rectangle 12"/>
          <p:cNvSpPr/>
          <p:nvPr/>
        </p:nvSpPr>
        <p:spPr>
          <a:xfrm>
            <a:off x="9586874" y="5198154"/>
            <a:ext cx="2234154" cy="5561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smtClean="0"/>
              <a:t>Issue to Production (IQ)</a:t>
            </a:r>
            <a:endParaRPr lang="en-IN" sz="1600" dirty="0"/>
          </a:p>
        </p:txBody>
      </p:sp>
      <p:sp>
        <p:nvSpPr>
          <p:cNvPr id="14" name="Rectangle 13"/>
          <p:cNvSpPr/>
          <p:nvPr/>
        </p:nvSpPr>
        <p:spPr>
          <a:xfrm>
            <a:off x="567178" y="4551279"/>
            <a:ext cx="28189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i="1" u="sng" dirty="0" smtClean="0">
                <a:solidFill>
                  <a:schemeClr val="accent6"/>
                </a:solidFill>
              </a:rPr>
              <a:t>Logical flow (Material lifecycle)</a:t>
            </a:r>
            <a:endParaRPr lang="en-IN" sz="1600" b="1" i="1" u="sng" dirty="0">
              <a:solidFill>
                <a:schemeClr val="accent6"/>
              </a:solidFill>
            </a:endParaRPr>
          </a:p>
        </p:txBody>
      </p:sp>
      <p:cxnSp>
        <p:nvCxnSpPr>
          <p:cNvPr id="16" name="Straight Arrow Connector 15"/>
          <p:cNvCxnSpPr>
            <a:stCxn id="9" idx="3"/>
            <a:endCxn id="10" idx="1"/>
          </p:cNvCxnSpPr>
          <p:nvPr/>
        </p:nvCxnSpPr>
        <p:spPr>
          <a:xfrm>
            <a:off x="2073898" y="5476246"/>
            <a:ext cx="30431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836709" y="5486517"/>
            <a:ext cx="30431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652153" y="5486517"/>
            <a:ext cx="30431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9282560" y="5467661"/>
            <a:ext cx="30431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152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00813"/>
              </p:ext>
            </p:extLst>
          </p:nvPr>
        </p:nvGraphicFramePr>
        <p:xfrm>
          <a:off x="419701" y="540423"/>
          <a:ext cx="11062146" cy="4742318"/>
        </p:xfrm>
        <a:graphic>
          <a:graphicData uri="http://schemas.openxmlformats.org/drawingml/2006/table">
            <a:tbl>
              <a:tblPr/>
              <a:tblGrid>
                <a:gridCol w="2540315"/>
                <a:gridCol w="2554664"/>
                <a:gridCol w="4779390"/>
                <a:gridCol w="1187777"/>
              </a:tblGrid>
              <a:tr h="344825"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solidFill>
                            <a:schemeClr val="bg1"/>
                          </a:solidFill>
                        </a:rPr>
                        <a:t>Status Name</a:t>
                      </a:r>
                      <a:endParaRPr lang="en-IN" sz="1300" dirty="0">
                        <a:solidFill>
                          <a:schemeClr val="bg1"/>
                        </a:solidFill>
                      </a:endParaRP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>
                          <a:solidFill>
                            <a:schemeClr val="bg1"/>
                          </a:solidFill>
                        </a:rPr>
                        <a:t>Logic / Condition</a:t>
                      </a:r>
                      <a:endParaRPr lang="en-IN" sz="1300">
                        <a:solidFill>
                          <a:schemeClr val="bg1"/>
                        </a:solidFill>
                      </a:endParaRP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solidFill>
                            <a:schemeClr val="bg1"/>
                          </a:solidFill>
                        </a:rPr>
                        <a:t>Description (Display meaning)</a:t>
                      </a:r>
                      <a:endParaRPr lang="en-IN" sz="1300" dirty="0">
                        <a:solidFill>
                          <a:schemeClr val="bg1"/>
                        </a:solidFill>
                      </a:endParaRP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solidFill>
                          <a:schemeClr val="bg1"/>
                        </a:solidFill>
                      </a:endParaRP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862279"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 smtClean="0"/>
                        <a:t>Completely </a:t>
                      </a:r>
                      <a:r>
                        <a:rPr lang="en-IN" sz="1300" b="1" dirty="0"/>
                        <a:t>Issued</a:t>
                      </a:r>
                      <a:endParaRPr lang="en-IN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IQ &gt;= DQ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 dirty="0"/>
                        <a:t>All required materials have been issued to production.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2279">
                <a:tc>
                  <a:txBody>
                    <a:bodyPr/>
                    <a:lstStyle/>
                    <a:p>
                      <a:pPr algn="ctr"/>
                      <a:r>
                        <a:rPr lang="en-GB" sz="1300" b="1" dirty="0" smtClean="0"/>
                        <a:t>Partially </a:t>
                      </a:r>
                      <a:r>
                        <a:rPr lang="en-GB" sz="1300" b="1" dirty="0"/>
                        <a:t>Issued to Production</a:t>
                      </a:r>
                      <a:endParaRPr lang="en-GB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 RQ + DAI + DPI) &gt;=</a:t>
                      </a:r>
                      <a:r>
                        <a:rPr lang="en-IN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DQ &amp;&amp; </a:t>
                      </a:r>
                      <a:r>
                        <a:rPr lang="en-GB" sz="1300" dirty="0" smtClean="0"/>
                        <a:t>IQ </a:t>
                      </a:r>
                      <a:r>
                        <a:rPr lang="en-GB" sz="1300" dirty="0"/>
                        <a:t>&lt; DQ </a:t>
                      </a:r>
                      <a:r>
                        <a:rPr lang="en-GB" sz="1300" b="1" dirty="0"/>
                        <a:t>and</a:t>
                      </a:r>
                      <a:r>
                        <a:rPr lang="en-GB" sz="1300" dirty="0"/>
                        <a:t> IQ &gt; 0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 dirty="0"/>
                        <a:t>Some material has been issued, but production still waiting for remaining.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2279">
                <a:tc>
                  <a:txBody>
                    <a:bodyPr/>
                    <a:lstStyle/>
                    <a:p>
                      <a:pPr algn="ctr"/>
                      <a:r>
                        <a:rPr lang="en-GB" sz="1300" b="1" dirty="0" smtClean="0"/>
                        <a:t>Material </a:t>
                      </a:r>
                      <a:r>
                        <a:rPr lang="en-GB" sz="1300" b="1" dirty="0"/>
                        <a:t>Received - Not Issued</a:t>
                      </a:r>
                      <a:endParaRPr lang="en-GB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dirty="0"/>
                        <a:t>(RQ + DAI + DPI) &gt;= DQ </a:t>
                      </a:r>
                      <a:r>
                        <a:rPr lang="it-IT" sz="1300" b="1" dirty="0"/>
                        <a:t>and</a:t>
                      </a:r>
                      <a:r>
                        <a:rPr lang="it-IT" sz="1300" dirty="0"/>
                        <a:t> IQ = 0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/>
                        <a:t>Materials are in warehouse but not yet issued to production.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3552"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 smtClean="0"/>
                        <a:t>Partially </a:t>
                      </a:r>
                      <a:r>
                        <a:rPr lang="en-IN" sz="1300" b="1" dirty="0"/>
                        <a:t>Available</a:t>
                      </a:r>
                      <a:endParaRPr lang="en-IN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dirty="0"/>
                        <a:t>(RQ + DAI + DPI) &lt; DQ </a:t>
                      </a:r>
                      <a:r>
                        <a:rPr lang="it-IT" sz="1300" b="1" dirty="0"/>
                        <a:t>and</a:t>
                      </a:r>
                      <a:r>
                        <a:rPr lang="it-IT" sz="1300" dirty="0"/>
                        <a:t> (RQ + DAI + DPI) &gt; 0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/>
                        <a:t>Some materials are available, but not enough to fulfill total demand.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30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3552"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 smtClean="0"/>
                        <a:t>Purchase </a:t>
                      </a:r>
                      <a:r>
                        <a:rPr lang="en-IN" sz="1300" b="1" dirty="0"/>
                        <a:t>Pending</a:t>
                      </a:r>
                      <a:endParaRPr lang="en-IN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 dirty="0"/>
                        <a:t>PQ = 0 </a:t>
                      </a:r>
                      <a:r>
                        <a:rPr lang="en-GB" sz="1300" b="1" dirty="0"/>
                        <a:t>or</a:t>
                      </a:r>
                      <a:r>
                        <a:rPr lang="en-GB" sz="1300" dirty="0"/>
                        <a:t> PQ &lt; DQ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/>
                        <a:t>Material not yet fully purchased or purchase order not raised.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3552"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 smtClean="0"/>
                        <a:t>Shortage </a:t>
                      </a:r>
                      <a:r>
                        <a:rPr lang="en-IN" sz="1300" b="1" dirty="0"/>
                        <a:t>/ Not Available</a:t>
                      </a:r>
                      <a:endParaRPr lang="en-IN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dirty="0"/>
                        <a:t>(RQ + DAI + DPI) = 0 </a:t>
                      </a:r>
                      <a:r>
                        <a:rPr lang="it-IT" sz="1300" b="1" dirty="0"/>
                        <a:t>or</a:t>
                      </a:r>
                      <a:r>
                        <a:rPr lang="it-IT" sz="1300" dirty="0"/>
                        <a:t> SQ &gt; 0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 dirty="0"/>
                        <a:t>No material available or significant shortage detected.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Oval 2"/>
          <p:cNvSpPr/>
          <p:nvPr/>
        </p:nvSpPr>
        <p:spPr>
          <a:xfrm>
            <a:off x="10710422" y="1227056"/>
            <a:ext cx="226243" cy="22624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/>
          <p:cNvSpPr/>
          <p:nvPr/>
        </p:nvSpPr>
        <p:spPr>
          <a:xfrm>
            <a:off x="10710421" y="1945064"/>
            <a:ext cx="226243" cy="22624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10721419" y="2906598"/>
            <a:ext cx="226243" cy="226244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10721419" y="3641888"/>
            <a:ext cx="226243" cy="22624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10710420" y="4264056"/>
            <a:ext cx="226243" cy="226244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10721419" y="4868942"/>
            <a:ext cx="226243" cy="22624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485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9019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smtClean="0"/>
              <a:t>SO Status By Material Status : </a:t>
            </a:r>
            <a:endParaRPr lang="en-IN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734385"/>
              </p:ext>
            </p:extLst>
          </p:nvPr>
        </p:nvGraphicFramePr>
        <p:xfrm>
          <a:off x="429829" y="773088"/>
          <a:ext cx="10957749" cy="3393558"/>
        </p:xfrm>
        <a:graphic>
          <a:graphicData uri="http://schemas.openxmlformats.org/drawingml/2006/table">
            <a:tbl>
              <a:tblPr/>
              <a:tblGrid>
                <a:gridCol w="1101014"/>
                <a:gridCol w="6204152"/>
                <a:gridCol w="3652583"/>
              </a:tblGrid>
              <a:tr h="484794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SO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</a:tr>
              <a:tr h="484794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Any material has </a:t>
                      </a:r>
                      <a:r>
                        <a:rPr lang="en-IN" b="1" dirty="0"/>
                        <a:t>Shortage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 Material </a:t>
                      </a:r>
                      <a:r>
                        <a:rPr lang="en-IN" dirty="0"/>
                        <a:t>Shortage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794"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Any material is </a:t>
                      </a:r>
                      <a:r>
                        <a:rPr lang="en-GB" b="1"/>
                        <a:t>Partially Issued</a:t>
                      </a:r>
                      <a:r>
                        <a:rPr lang="en-GB"/>
                        <a:t> but no Shortage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Partially </a:t>
                      </a:r>
                      <a:r>
                        <a:rPr lang="en-IN" dirty="0"/>
                        <a:t>Issued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794"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All materials are </a:t>
                      </a:r>
                      <a:r>
                        <a:rPr lang="en-GB" b="1"/>
                        <a:t>Material Received - Not Issued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Waiting </a:t>
                      </a:r>
                      <a:r>
                        <a:rPr lang="en-IN" dirty="0"/>
                        <a:t>for 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794"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All materials are </a:t>
                      </a:r>
                      <a:r>
                        <a:rPr lang="en-GB" b="1"/>
                        <a:t>Completely Issued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Completely </a:t>
                      </a:r>
                      <a:r>
                        <a:rPr lang="en-IN" dirty="0"/>
                        <a:t>Issued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794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Mixed (like some Not Issued, some Available, 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Partially </a:t>
                      </a:r>
                      <a:r>
                        <a:rPr lang="en-IN" dirty="0"/>
                        <a:t>Available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794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 data or unclear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Unknown </a:t>
                      </a:r>
                      <a:r>
                        <a:rPr lang="en-IN" dirty="0"/>
                        <a:t>/ Need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10578446" y="1866506"/>
            <a:ext cx="226243" cy="22624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10578446" y="1377884"/>
            <a:ext cx="226243" cy="22624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10578446" y="2355128"/>
            <a:ext cx="226243" cy="22624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10578445" y="2843750"/>
            <a:ext cx="226243" cy="22624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10578445" y="3332372"/>
            <a:ext cx="226243" cy="2262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10578444" y="3820994"/>
            <a:ext cx="226243" cy="22624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603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336</Words>
  <Application>Microsoft Office PowerPoint</Application>
  <PresentationFormat>Widescreen</PresentationFormat>
  <Paragraphs>68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4</cp:revision>
  <dcterms:created xsi:type="dcterms:W3CDTF">2025-10-24T05:40:13Z</dcterms:created>
  <dcterms:modified xsi:type="dcterms:W3CDTF">2026-01-08T03:15:46Z</dcterms:modified>
</cp:coreProperties>
</file>